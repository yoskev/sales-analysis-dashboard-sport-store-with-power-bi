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2ED"/>
    <a:srgbClr val="F4FAF0"/>
    <a:srgbClr val="F1F8EC"/>
    <a:srgbClr val="E8F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Arial"/>
                <a:ea typeface="+mn-ea"/>
                <a:cs typeface="+mn-cs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Total revenue by year (Rp billion)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000000"/>
              </a:solidFill>
              <a:latin typeface="Arial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(Rp bn)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1E293B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111.07</c:v>
                </c:pt>
                <c:pt idx="1">
                  <c:v>91.96</c:v>
                </c:pt>
                <c:pt idx="2">
                  <c:v>93.74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EE-4326-B010-9C73D41D07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64748B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64748B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Revenue by sales team, 2020–2022 (Rp billion)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Sulawesi-Maluku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37.21</c:v>
                </c:pt>
                <c:pt idx="1">
                  <c:v>34.4</c:v>
                </c:pt>
                <c:pt idx="2">
                  <c:v>31.59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A0-41B1-B83F-9A5E5779B4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Sumatera-Kalimantan</c:v>
                </c:pt>
              </c:strCache>
            </c:strRef>
          </c:tx>
          <c:spPr>
            <a:ln w="31750" cap="flat">
              <a:solidFill>
                <a:srgbClr val="0F6E5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6E56"/>
              </a:solidFill>
              <a:ln w="9525" cap="flat">
                <a:solidFill>
                  <a:srgbClr val="0F6E56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22.09</c:v>
                </c:pt>
                <c:pt idx="1">
                  <c:v>22.17</c:v>
                </c:pt>
                <c:pt idx="2">
                  <c:v>23.98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A0-41B1-B83F-9A5E5779B47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 (Jakarta)</c:v>
                </c:pt>
              </c:strCache>
            </c:strRef>
          </c:tx>
          <c:spPr>
            <a:ln w="31750" cap="flat">
              <a:solidFill>
                <a:srgbClr val="E859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593C"/>
              </a:solidFill>
              <a:ln w="9525" cap="flat">
                <a:solidFill>
                  <a:srgbClr val="E8593C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</c:v>
                </c:pt>
                <c:pt idx="1">
                  <c:v>16.309999999999999</c:v>
                </c:pt>
                <c:pt idx="2">
                  <c:v>11.86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A0-41B1-B83F-9A5E5779B47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Bali-Nusa Tenggara</c:v>
                </c:pt>
              </c:strCache>
            </c:strRef>
          </c:tx>
          <c:spPr>
            <a:ln w="31750" cap="flat">
              <a:solidFill>
                <a:srgbClr val="9FB4D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FB4DE"/>
              </a:solidFill>
              <a:ln w="9525" cap="flat">
                <a:solidFill>
                  <a:srgbClr val="9FB4DE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15.02</c:v>
                </c:pt>
                <c:pt idx="1">
                  <c:v>9.56</c:v>
                </c:pt>
                <c:pt idx="2">
                  <c:v>12.64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DA0-41B1-B83F-9A5E5779B47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Java</c:v>
                </c:pt>
              </c:strCache>
            </c:strRef>
          </c:tx>
          <c:spPr>
            <a:ln w="31750" cap="flat">
              <a:solidFill>
                <a:srgbClr val="5A7FB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7FBF"/>
              </a:solidFill>
              <a:ln w="9525" cap="flat">
                <a:solidFill>
                  <a:srgbClr val="5A7FBF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12.75</c:v>
                </c:pt>
                <c:pt idx="1">
                  <c:v>9.5299999999999994</c:v>
                </c:pt>
                <c:pt idx="2">
                  <c:v>13.66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A0-41B1-B83F-9A5E5779B4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AOV by year (Rp million)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 (Rp million)</c:v>
                </c:pt>
              </c:strCache>
            </c:strRef>
          </c:tx>
          <c:spPr>
            <a:ln w="38100" cap="flat">
              <a:solidFill>
                <a:srgbClr val="E8593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E8593C"/>
              </a:solidFill>
              <a:ln w="9525" cap="flat">
                <a:solidFill>
                  <a:srgbClr val="E8593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312.88</c:v>
                </c:pt>
                <c:pt idx="1">
                  <c:v>282.08999999999997</c:v>
                </c:pt>
                <c:pt idx="2">
                  <c:v>270.14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EF-4353-989A-7A78304652F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Revenue per closed prospect, by team (Rp billion)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prospect (Rp bn)</c:v>
                </c:pt>
              </c:strCache>
            </c:strRef>
          </c:tx>
          <c:spPr>
            <a:solidFill>
              <a:srgbClr val="E859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59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37F-4622-A215-13AFDB2349AC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7F-4622-A215-13AFDB2349AC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7F-4622-A215-13AFDB2349AC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7F-4622-A215-13AFDB2349AC}"/>
              </c:ext>
            </c:extLst>
          </c:dPt>
          <c:dPt>
            <c:idx val="4"/>
            <c:invertIfNegative val="0"/>
            <c:bubble3D val="0"/>
            <c:spPr>
              <a:solidFill>
                <a:srgbClr val="0F6E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37F-4622-A215-13AFDB2349A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Bali-Nusa Tenggara</c:v>
                </c:pt>
                <c:pt idx="1">
                  <c:v>Online</c:v>
                </c:pt>
                <c:pt idx="2">
                  <c:v>Java</c:v>
                </c:pt>
                <c:pt idx="3">
                  <c:v>Sulawesi-Maluku</c:v>
                </c:pt>
                <c:pt idx="4">
                  <c:v>Sumatera-Kalimantan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5.22</c:v>
                </c:pt>
                <c:pt idx="2">
                  <c:v>5.99</c:v>
                </c:pt>
                <c:pt idx="3">
                  <c:v>6.45</c:v>
                </c:pt>
                <c:pt idx="4">
                  <c:v>11.37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7F-4622-A215-13AFDB2349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Revenue by product category (Rp billion)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(Rp bn)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1A-497B-8266-0326A2B070F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1A-497B-8266-0326A2B070F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1A-497B-8266-0326A2B070F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1A-497B-8266-0326A2B070F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1A-497B-8266-0326A2B070F2}"/>
              </c:ext>
            </c:extLst>
          </c:dPt>
          <c:dPt>
            <c:idx val="5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01A-497B-8266-0326A2B070F2}"/>
              </c:ext>
            </c:extLst>
          </c:dPt>
          <c:dPt>
            <c:idx val="6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01A-497B-8266-0326A2B070F2}"/>
              </c:ext>
            </c:extLst>
          </c:dPt>
          <c:dPt>
            <c:idx val="7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01A-497B-8266-0326A2B070F2}"/>
              </c:ext>
            </c:extLst>
          </c:dPt>
          <c:dPt>
            <c:idx val="8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01A-497B-8266-0326A2B070F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Bicycle</c:v>
                </c:pt>
                <c:pt idx="1">
                  <c:v>Gym &amp; Fitness</c:v>
                </c:pt>
                <c:pt idx="2">
                  <c:v>Golf</c:v>
                </c:pt>
                <c:pt idx="3">
                  <c:v>Billiard</c:v>
                </c:pt>
                <c:pt idx="4">
                  <c:v>Hiking &amp; Camping</c:v>
                </c:pt>
                <c:pt idx="5">
                  <c:v>Basketball</c:v>
                </c:pt>
                <c:pt idx="6">
                  <c:v>Fishing Equip.</c:v>
                </c:pt>
                <c:pt idx="7">
                  <c:v>Futsal</c:v>
                </c:pt>
                <c:pt idx="8">
                  <c:v>Outdoors Sport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109.8</c:v>
                </c:pt>
                <c:pt idx="1">
                  <c:v>84.12</c:v>
                </c:pt>
                <c:pt idx="2">
                  <c:v>69.03</c:v>
                </c:pt>
                <c:pt idx="3">
                  <c:v>13.5</c:v>
                </c:pt>
                <c:pt idx="4">
                  <c:v>6</c:v>
                </c:pt>
                <c:pt idx="5">
                  <c:v>5.78</c:v>
                </c:pt>
                <c:pt idx="6">
                  <c:v>3.42</c:v>
                </c:pt>
                <c:pt idx="7">
                  <c:v>3.07</c:v>
                </c:pt>
                <c:pt idx="8">
                  <c:v>2.0499999999999998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01A-497B-8266-0326A2B070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Combined revenue of top 5 products (Rp billion)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81.37</c:v>
                </c:pt>
                <c:pt idx="1">
                  <c:v>68.459999999999994</c:v>
                </c:pt>
                <c:pt idx="2">
                  <c:v>67.47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DF-417A-82E4-F956FB2B6A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Realistic forecast</c:v>
                </c:pt>
              </c:strCache>
            </c:strRef>
          </c:tx>
          <c:spPr>
            <a:ln w="31750" cap="flat">
              <a:solidFill>
                <a:srgbClr val="E859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593C"/>
              </a:solidFill>
              <a:ln w="9525" cap="flat">
                <a:solidFill>
                  <a:srgbClr val="E8593C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67.47</c:v>
                </c:pt>
                <c:pt idx="1">
                  <c:v>55.14</c:v>
                </c:pt>
                <c:pt idx="2">
                  <c:v>42.98</c:v>
                </c:pt>
                <c:pt idx="3">
                  <c:v>44.49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DF-417A-82E4-F956FB2B6A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 forecast (+2%/yr)</c:v>
                </c:pt>
              </c:strCache>
            </c:strRef>
          </c:tx>
          <c:spPr>
            <a:ln w="31750" cap="flat">
              <a:solidFill>
                <a:srgbClr val="0F6E5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6E56"/>
              </a:solidFill>
              <a:ln w="9525" cap="flat">
                <a:solidFill>
                  <a:srgbClr val="0F6E5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67.47</c:v>
                </c:pt>
                <c:pt idx="1">
                  <c:v>68.819999999999993</c:v>
                </c:pt>
                <c:pt idx="2">
                  <c:v>70.2</c:v>
                </c:pt>
                <c:pt idx="3">
                  <c:v>71.599999999999994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CDF-417A-82E4-F956FB2B6A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Partner store revenue by tier (Rp billion)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(Rp bn)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Top 10 stores</c:v>
                </c:pt>
                <c:pt idx="1">
                  <c:v>Middle 30 stores</c:v>
                </c:pt>
                <c:pt idx="2">
                  <c:v>Bottom 10 stores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81.78</c:v>
                </c:pt>
                <c:pt idx="1">
                  <c:v>174.78</c:v>
                </c:pt>
                <c:pt idx="2">
                  <c:v>40.200000000000003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D7-4355-AB1D-C0B546F67F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D" sz="1200" b="0" i="0" u="none" strike="noStrike">
                <a:solidFill>
                  <a:srgbClr val="000000"/>
                </a:solidFill>
                <a:latin typeface="Arial"/>
              </a:rPr>
              <a:t>Revenue by partner type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6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32F-4B24-9F4C-51CAF73134CE}"/>
              </c:ext>
            </c:extLst>
          </c:dPt>
          <c:dPt>
            <c:idx val="1"/>
            <c:bubble3D val="0"/>
            <c:spPr>
              <a:solidFill>
                <a:srgbClr val="E859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2F-4B24-9F4C-51CAF73134C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32F-4B24-9F4C-51CAF73134C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32F-4B24-9F4C-51CAF73134C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Retail</c:v>
                </c:pt>
                <c:pt idx="1">
                  <c:v>Distributor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90.79</c:v>
                </c:pt>
                <c:pt idx="1">
                  <c:v>9.2100000000000009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32F-4B24-9F4C-51CAF7313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817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3960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1626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4889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6813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1093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98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866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4963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4987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4363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4636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81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6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480560"/>
            <a:ext cx="2926080" cy="29260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148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REVIEW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Project  •  XYZ Sports •  2020–2022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5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seasonal peak (April &amp; November, not October) and 2021–2022 revenue figures, and surfaces three findings: the Online team's revenue has nearly halved, Java region rebounded sharply in 2022, and prospect efficiency varies nearly 4x by sales team.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766560" y="123444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4356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801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Rp296.77bn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949440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738360" y="123444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528" y="14356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21240" y="1801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1,028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9921240" y="2221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766560" y="283464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303580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Rp270.14M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694944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order value (2022)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738360" y="283464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9528" y="303580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2124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34.77%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992124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region's revenue share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down, but stabilizing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4068128335"/>
              </p:ext>
            </p:extLst>
          </p:nvPr>
        </p:nvGraphicFramePr>
        <p:xfrm>
          <a:off x="457200" y="1097280"/>
          <a:ext cx="58521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537960" y="11430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DF2ED"/>
          </a:solidFill>
          <a:ln>
            <a:solidFill>
              <a:srgbClr val="F1F8EC"/>
            </a:solidFill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76656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–17.21%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66560" y="17647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YoY growth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37960" y="237744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+1.93%</a:t>
            </a:r>
            <a:endParaRPr lang="en-US"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766560" y="29992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YoY growth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37960" y="3657600"/>
            <a:ext cx="5120640" cy="700391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949440" y="3789507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April and November are the real peak months with September is consistently the weakest.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50749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single month on record: November 2020 at Rp13.24bn.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region leads, but the trend is shifting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1097280"/>
            <a:ext cx="4206240" cy="731520"/>
          </a:xfrm>
          <a:prstGeom prst="roundRect">
            <a:avLst>
              <a:gd name="adj" fmla="val 4571"/>
            </a:avLst>
          </a:prstGeom>
          <a:solidFill>
            <a:srgbClr val="FDEDE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35240" y="1280160"/>
            <a:ext cx="384048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38160" y="120700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2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(Jakarta) team revenue: –50.6% since 2020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452360" y="2358374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1F8E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680960" y="249553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Java: +43.3%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7680960" y="299845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→ 2022 — its best year yet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452360" y="4259548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DF2E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680960" y="43967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Sulawesi-Maluku: –15.1%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680960" y="48996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#1 at 34.77% share, but declining every year since 2020.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value: a confirmed 3-year decline</a:t>
            </a:r>
            <a:endParaRPr lang="en-US" sz="26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88720"/>
          <a:ext cx="6217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280160"/>
            <a:ext cx="4572000" cy="1920240"/>
          </a:xfrm>
          <a:prstGeom prst="roundRect">
            <a:avLst>
              <a:gd name="adj" fmla="val 3810"/>
            </a:avLst>
          </a:prstGeom>
          <a:solidFill>
            <a:srgbClr val="FDF2E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26948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5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–13.66%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269480" y="21945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AOV decline, 2020 to 2022 — confirmed across all three years, not a single bad year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040880" y="34747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counts stayed in a narrow band (326–355/year) — this is a value problem, not a volume problem. Bundling and upsell offers are the likely levers.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 efficiency varies nearly 4x by team</a:t>
            </a:r>
            <a:endParaRPr lang="en-US" sz="27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8872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2344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818120" y="1371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Sumatera-Kalimantan: Rp11.37bn/prospect</a:t>
            </a:r>
            <a:endParaRPr lang="en-US" sz="135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81812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just 6 prospects — the model to replicate.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589520" y="32461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DEDE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1812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A2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Bali-Nusa Tenggara: Rp3.10bn/prospect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18120" y="4251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having the most prospects (12) — the clearest efficiency gap.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categories drive 95% of revenue</a:t>
            </a: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991440059"/>
              </p:ext>
            </p:extLst>
          </p:nvPr>
        </p:nvGraphicFramePr>
        <p:xfrm>
          <a:off x="457200" y="1097280"/>
          <a:ext cx="73152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001000" y="118872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1F8E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0" y="1371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95.18%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0" y="2057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from the top 5 categories (navy bars)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01000" y="34290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remaining 4 categories (coral) together contribute just 4.82%.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action, top products are forecast to decline</a:t>
            </a:r>
            <a:endParaRPr lang="en-US" sz="25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7406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001000" y="118872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FDEDE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–34.1%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0" y="2011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by 2025 if the current decline continues untouched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001000" y="329184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+6.1%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229600" y="4114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achievable by 2025 with just a 2%/year growth target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stores: a wide gap between top and bottom</a:t>
            </a:r>
            <a:endParaRPr lang="en-US" sz="25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93586119"/>
              </p:ext>
            </p:extLst>
          </p:nvPr>
        </p:nvGraphicFramePr>
        <p:xfrm>
          <a:off x="457200" y="109728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757451400"/>
              </p:ext>
            </p:extLst>
          </p:nvPr>
        </p:nvGraphicFramePr>
        <p:xfrm>
          <a:off x="6400800" y="109728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5486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stores generate 2x the bottom 10's revenue. Retail drives 90.79% of revenue (941 orders) vs. 9.21% for distributors (87 orders); Bali and Sumatera are served entirely by distributors.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988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 by trend, not size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Online team's -50.6% decline; sustain Java's +43.3% rebound.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68926" y="17428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leading region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452628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Sulawesi-Maluku is #1 but down 15.1% since 2020 — track it closely.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17966" y="174284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efficiency gap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827532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Sumatera-Kalimantan's Rp11.37bn/prospect approach in Bali-NT.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9886" y="425744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800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order value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777240" y="5303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3-year, -13.66% AOV decline; pilot bundling &amp; upsell.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3886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26280" y="4114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68926" y="425744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6280" y="4800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on the product forecast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7" name="Text 20"/>
          <p:cNvSpPr/>
          <p:nvPr/>
        </p:nvSpPr>
        <p:spPr>
          <a:xfrm>
            <a:off x="4526280" y="5303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products: -34% by 2025 if untouched, vs. +6% with a growth target.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46720" y="3886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75320" y="4114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17966" y="4257446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75320" y="4800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 partners &amp; seasons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Text 24"/>
          <p:cNvSpPr/>
          <p:nvPr/>
        </p:nvSpPr>
        <p:spPr>
          <a:xfrm>
            <a:off x="8275320" y="5303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bottom-10 stores; plan around real peaks (April &amp; November).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</a:t>
            </a: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24750"/>
              </p:ext>
            </p:extLst>
          </p:nvPr>
        </p:nvGraphicFramePr>
        <p:xfrm>
          <a:off x="457200" y="960120"/>
          <a:ext cx="11247120" cy="4974336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Diagnose Online (Jakarta) team's decline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Sales 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Halt further QoQ revenue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Sustain Java team's 2022 momentum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Regional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Q3–Q4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share 12.11% → 15%+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 Sulawesi-Maluku region health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Sulawesi-Maluku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Stabilize ≥ Rp31bn/yr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out Sumatera-Kalimantan's prospecting approach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Enablement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Bali-NT rev/prospect: Rp3.10bn → Rp5bn+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AOV recovery: bundling &amp; upsell pilot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&amp; 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AOV to Rp300M+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 product growth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Managers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to +6% vs 2022 by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 review + peak-season readiness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Partnerships &amp; 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 / Mar &amp; Sep prep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44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Bottom-10 stores +15%; zero stockouts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cadence: monthly for regional/team trends; full re-analysis at end of Q4 to check tracking against the realistic vs. optimistic forecast.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24000" y="2835613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</TotalTime>
  <Words>749</Words>
  <Application>Microsoft Office PowerPoint</Application>
  <PresentationFormat>Widescreen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Review &amp; Strategic Recommendations (Revised)</dc:title>
  <dc:subject>PptxGenJS Presentation</dc:subject>
  <dc:creator>Data Analyst Portfolio</dc:creator>
  <cp:lastModifiedBy>YOSAFAT</cp:lastModifiedBy>
  <cp:revision>10</cp:revision>
  <dcterms:created xsi:type="dcterms:W3CDTF">2026-07-09T11:16:38Z</dcterms:created>
  <dcterms:modified xsi:type="dcterms:W3CDTF">2026-07-10T07:31:19Z</dcterms:modified>
</cp:coreProperties>
</file>